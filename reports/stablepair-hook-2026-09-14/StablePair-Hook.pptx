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b7878033f4f2b" /><Relationship Type="http://schemas.openxmlformats.org/officeDocument/2006/relationships/extended-properties" Target="/docProps/app.xml" Id="Rc7c55d5753f346f6" /><Relationship Type="http://schemas.openxmlformats.org/officeDocument/2006/relationships/officeDocument" Target="/ppt/presentation.xml" Id="R36ac4f9a89c142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d33589b7b4c2d"/>
  </p:sldMasterIdLst>
  <p:notesMasterIdLst>
    <p:notesMasterId xmlns:r="http://schemas.openxmlformats.org/officeDocument/2006/relationships" r:id="Re8cd320d6ea5434d"/>
  </p:notesMasterIdLst>
  <p:sldIdLst>
    <p:sldId xmlns:r="http://schemas.openxmlformats.org/officeDocument/2006/relationships" id="256" r:id="Rb7ed9fee23804b21"/>
    <p:sldId xmlns:r="http://schemas.openxmlformats.org/officeDocument/2006/relationships" id="257" r:id="Rf97aad140abc4639"/>
    <p:sldId xmlns:r="http://schemas.openxmlformats.org/officeDocument/2006/relationships" id="258" r:id="R614909a8b6424dfa"/>
    <p:sldId xmlns:r="http://schemas.openxmlformats.org/officeDocument/2006/relationships" id="259" r:id="R424cdd0db17642bc"/>
    <p:sldId xmlns:r="http://schemas.openxmlformats.org/officeDocument/2006/relationships" id="260" r:id="R8094ba564c76457d"/>
    <p:sldId xmlns:r="http://schemas.openxmlformats.org/officeDocument/2006/relationships" id="261" r:id="R77469e452c624445"/>
    <p:sldId xmlns:r="http://schemas.openxmlformats.org/officeDocument/2006/relationships" id="262" r:id="R03e9188e02d54b5b"/>
    <p:sldId xmlns:r="http://schemas.openxmlformats.org/officeDocument/2006/relationships" id="263" r:id="Rbc3424c44d3c415e"/>
    <p:sldId xmlns:r="http://schemas.openxmlformats.org/officeDocument/2006/relationships" id="264" r:id="Rb769466620bc47b9"/>
    <p:sldId xmlns:r="http://schemas.openxmlformats.org/officeDocument/2006/relationships" id="265" r:id="R0f9449d644754057"/>
    <p:sldId xmlns:r="http://schemas.openxmlformats.org/officeDocument/2006/relationships" id="266" r:id="R271084ffa257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58f40bfb34a53" /><Relationship Type="http://schemas.openxmlformats.org/officeDocument/2006/relationships/slideMaster" Target="/ppt/slideMasters/slideMaster1.xml" Id="Rc36d33589b7b4c2d" /><Relationship Type="http://schemas.openxmlformats.org/officeDocument/2006/relationships/notesMaster" Target="/ppt/notesMasters/notesMaster1.xml" Id="Re8cd320d6ea5434d" /><Relationship Type="http://schemas.openxmlformats.org/officeDocument/2006/relationships/presProps" Target="/ppt/presProps.xml" Id="R5217e0207fee461b" /><Relationship Type="http://schemas.openxmlformats.org/officeDocument/2006/relationships/tableStyles" Target="/ppt/tableStyles.xml" Id="Re06fe4a8a3904954" /><Relationship Type="http://schemas.openxmlformats.org/officeDocument/2006/relationships/slide" Target="/ppt/slides/slide1.xml" Id="Rb7ed9fee23804b21" /><Relationship Type="http://schemas.openxmlformats.org/officeDocument/2006/relationships/slide" Target="/ppt/slides/slide2.xml" Id="Rf97aad140abc4639" /><Relationship Type="http://schemas.openxmlformats.org/officeDocument/2006/relationships/slide" Target="/ppt/slides/slide3.xml" Id="R614909a8b6424dfa" /><Relationship Type="http://schemas.openxmlformats.org/officeDocument/2006/relationships/slide" Target="/ppt/slides/slide4.xml" Id="R424cdd0db17642bc" /><Relationship Type="http://schemas.openxmlformats.org/officeDocument/2006/relationships/slide" Target="/ppt/slides/slide5.xml" Id="R8094ba564c76457d" /><Relationship Type="http://schemas.openxmlformats.org/officeDocument/2006/relationships/slide" Target="/ppt/slides/slide6.xml" Id="R77469e452c624445" /><Relationship Type="http://schemas.openxmlformats.org/officeDocument/2006/relationships/slide" Target="/ppt/slides/slide7.xml" Id="R03e9188e02d54b5b" /><Relationship Type="http://schemas.openxmlformats.org/officeDocument/2006/relationships/slide" Target="/ppt/slides/slide8.xml" Id="Rbc3424c44d3c415e" /><Relationship Type="http://schemas.openxmlformats.org/officeDocument/2006/relationships/slide" Target="/ppt/slides/slide9.xml" Id="Rb769466620bc47b9" /><Relationship Type="http://schemas.openxmlformats.org/officeDocument/2006/relationships/slide" Target="/ppt/slides/slide10.xml" Id="R0f9449d644754057" /><Relationship Type="http://schemas.openxmlformats.org/officeDocument/2006/relationships/slide" Target="/ppt/slides/slide11.xml" Id="R271084ffa257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22238a75ee4e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7b356083014b24" /><Relationship Type="http://schemas.openxmlformats.org/officeDocument/2006/relationships/notesMaster" Target="/ppt/notesMasters/notesMaster1.xml" Id="R0ae948180945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22334ad334849" /><Relationship Type="http://schemas.openxmlformats.org/officeDocument/2006/relationships/notesMaster" Target="/ppt/notesMasters/notesMaster1.xml" Id="Rd349034304cb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024edc52947a9" /><Relationship Type="http://schemas.openxmlformats.org/officeDocument/2006/relationships/notesMaster" Target="/ppt/notesMasters/notesMaster1.xml" Id="R07fd0025cb1646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438900201643c5" /><Relationship Type="http://schemas.openxmlformats.org/officeDocument/2006/relationships/notesMaster" Target="/ppt/notesMasters/notesMaster1.xml" Id="Rd2fe009607c2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d2f69d9f824dcc" /><Relationship Type="http://schemas.openxmlformats.org/officeDocument/2006/relationships/notesMaster" Target="/ppt/notesMasters/notesMaster1.xml" Id="R07bd206349ad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0a0759ea5b44cd" /><Relationship Type="http://schemas.openxmlformats.org/officeDocument/2006/relationships/notesMaster" Target="/ppt/notesMasters/notesMaster1.xml" Id="R12afdcdd6e8f48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7b9fe7777c4887" /><Relationship Type="http://schemas.openxmlformats.org/officeDocument/2006/relationships/notesMaster" Target="/ppt/notesMasters/notesMaster1.xml" Id="Re6bcf4912d5d40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ecaf4faec049bf" /><Relationship Type="http://schemas.openxmlformats.org/officeDocument/2006/relationships/notesMaster" Target="/ppt/notesMasters/notesMaster1.xml" Id="Rdcbc77548ba0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20bce8230049cb" /><Relationship Type="http://schemas.openxmlformats.org/officeDocument/2006/relationships/notesMaster" Target="/ppt/notesMasters/notesMaster1.xml" Id="Ra4b3bcaaf1ff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e0773c94724038" /><Relationship Type="http://schemas.openxmlformats.org/officeDocument/2006/relationships/notesMaster" Target="/ppt/notesMasters/notesMaster1.xml" Id="R23ebced2a7a54f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55d6ecec5942c0" /><Relationship Type="http://schemas.openxmlformats.org/officeDocument/2006/relationships/notesMaster" Target="/ppt/notesMasters/notesMaster1.xml" Id="R349b103401a84c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本稿把已确认报告压缩为 11 页图解。定位为 Uniswap LP 用户助手，用户直接持有与操作标准 v4 仓位。不创建 Vault，不归集用户资金，不发行平台份额。当前范围不含商业化或平台收费；收益只采用基础 LP 手续费口径。界面本身不产生额外收益。同池同区间的底层收益来源与用户直接通过 Uniswap 操作一致。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视觉素材：cover.png；使用 image_gen 生成的概念示意，非实测图或已上线产品截图。完整提示词及生成路径保存在同目录 .build/image-provenance.json。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Hook 是附着在 Uniswap v4 池上的合约扩展，能在特定操作环节执行规则。StablePair 为每笔 swap 计算 LP 费率。例：池内 1 USDC=0.999 USDT，外部 1 USDC=1 USDT，买入 100,000 USDC，毛价差 100 USDT。为说明价值分配，固定收费假设10、动态收费假设80，LP多收70，套利者剩余从90降至20。80不是实测，也不是稳定的套利利润分成比例。此70已属于手续费，不能另加一次 MEV 收益。提高收费不保证净值提高。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价附近调整双向费率，使小额交易在价格冲击前的买卖报价稳定。带外把价格拉回参考价的交易，先设置纠偏费率，再逐区块衰减，类似荷兰式拍卖出售套利机会；价格进一步偏离会抬高纠偏费率，穿过参考价、回到区间等事件可能重置状态，因此不是固定倒计时。带外把价格推离参考价方向的交易，LP费率为0。该机制不识别机器人身份，也不判断稳定币真实信用价值。一个区块首笔交易缓存价格，同区块后续交易共享输入，减少拆单降费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视觉素材：mechanism.png；使用 image_gen 生成的概念示意，非实测图或已上线产品截图。完整提示词及生成路径保存在同目录 .build/image-provenance.json。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原报告保留的官方统计栏快照：TVL 5,664,000 USD，24小时成交量71,404,000 USD，基础APR0.0644，日成交量/TVL=12.6066384。原网页顶部成交量图与统计栏口径不同，固定采用统计栏。未独立复现页面APR历史窗口或仓位fee growth，不能写成已实现收益。不用2026-09-15滚动数值覆盖。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"pool_snapshot",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官方池子 UI · 统计栏快照",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"USDC/USDT StablePair 池",</a:t>
            </a:r>
          </a:p>
          <a:p xmlns:a="http://schemas.openxmlformats.org/drawingml/2006/main">
            <a:r>
              <a:t>        "url": "https://app.uniswap.org/explore/pools/ethereum/0x2b21c65d9a7dc6926ee330a1c6e5a8037fd81774f3dc066536f800128e39f634"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"浏览器读取",</a:t>
            </a:r>
          </a:p>
          <a:p xmlns:a="http://schemas.openxmlformats.org/drawingml/2006/main">
            <a:r>
              <a:t>        "detail": "2026-09-14 22:30 前后（Asia/Shanghai）浏览器读取统计栏：TVL 566.4 万美元、24h 成交量 7,140.4 万美元、基础 APR 6.44%。保留该次读取的基础收益快照；顶部交易量图数值与统计栏不同，本报告固定使用统计栏口径。"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"页面展示的 APR 是估计指标；未取得历史 fee growth 与仓位净值，不视为已实现投资回报。",</a:t>
            </a:r>
          </a:p>
          <a:p xmlns:a="http://schemas.openxmlformats.org/drawingml/2006/main">
            <a:r>
              <a:t>      "TVL和成交量为UI四舍五入值。"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"metricDefinitions":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"基础 APR",</a:t>
            </a:r>
          </a:p>
          <a:p xmlns:a="http://schemas.openxmlformats.org/drawingml/2006/main">
            <a:r>
              <a:t>        "definition": "池子页面基础 APR 展示值，含义与历史计算窗口未独立复现。",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"current-state",</a:t>
            </a:r>
          </a:p>
          <a:p xmlns:a="http://schemas.openxmlformats.org/drawingml/2006/main">
            <a:r>
              <a:t>          "summary"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完整30日窗口为[2026-08-15T00:00:00Z,2026-09-14T00:00:00Z)。每日取最后一条记录，统计apyBase/100的算术均值，不是持有1个月的收益率。Uniswap v3为1.3564213333%，Curve为0.7593333333%；都是Ethereum USDC/USDT参考池。StablePair只有4日记录，基础字段全0且无法验证含义，不把它当实际0收益，也不计算上线以来均值。普通v4仅12日有效，均值3.0271966667%，缺18日不补0或前向填充。图表是基础年化背景参考；其序列名只是图表通用标签，指标定义以本页标题与此备注为准，不宣称与情景毛APR同口径。不同池区间、有效流动性、时间窗不同，不能直接推导因果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"monthly_base_summary",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"DefiLlama 日度历史 · 基础收益 · 2026-08-15 至 2026-09-13（UTC）",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"StablePair · Uniswap v4 · 日度历史 API",</a:t>
            </a:r>
          </a:p>
          <a:p xmlns:a="http://schemas.openxmlformats.org/drawingml/2006/main">
            <a:r>
              <a:t>        "url": "https://yields.llama.fi/chart/fcf0e09f-7157-5ace-856b-25c7f6376eab"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"StablePair · Uniswap v4 · 池子页面",</a:t>
            </a:r>
          </a:p>
          <a:p xmlns:a="http://schemas.openxmlformats.org/drawingml/2006/main">
            <a:r>
              <a:t>        "url": "https://defillama.com/yields/pool/fcf0e09f-7157-5ace-856b-25c7f6376eab"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"Uniswap v3 · 0.01% · 日度历史 API",</a:t>
            </a:r>
          </a:p>
          <a:p xmlns:a="http://schemas.openxmlformats.org/drawingml/2006/main">
            <a:r>
              <a:t>        "url": "https://yields.llama.fi/chart/e737d721-f45c-40f0-9793-9f56261862b9"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"Uniswap v3 · 0.01% · 池子页面",</a:t>
            </a:r>
          </a:p>
          <a:p xmlns:a="http://schemas.openxmlformats.org/drawingml/2006/main">
            <a:r>
              <a:t>        "url": "https://defillama.com/yields/pool/e737d721-f45c-40f0-9793-9f56261862b9"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"Curve · USDC/USDT · 日度历史 API",</a:t>
            </a:r>
          </a:p>
          <a:p xmlns:a="http://schemas.openxmlformats.org/drawingml/2006/main">
            <a:r>
              <a:t>        "url": "https://yields.llama.fi/chart/e8dda16a-ad63-4925-b234-06861cff79c7"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"Curve · USDC/USDT · 池子页面",</a:t>
            </a:r>
          </a:p>
          <a:p xmlns:a="http://schemas.openxmlformats.org/drawingml/2006/main">
            <a:r>
              <a:t>        "url": "https://defillama.com/yields/pool/e8dda16a-ad63-4925-b234-06861cff79c7"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"普通 Uniswap v4 · 日度历史 API",</a:t>
            </a:r>
          </a:p>
          <a:p xmlns:a="http://schemas.openxmlformats.org/drawingml/2006/main">
            <a:r>
              <a:t>        "url": "https://yields.llama.fi/chart/396690fe-b21f-43d6-a189-1e8157069671"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"普通 Uniswap v4 · 池子页面",</a:t>
            </a:r>
          </a:p>
          <a:p xmlns:a="http://schemas.openxmlformats.org/drawingml/2006/main">
            <a:r>
              <a:t>        "url": "https://defillama.com/yields/pool/396690fe-b21f-43d6-a189-1e8157069671"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"StablePair 官方上线日期与池 ID",</a:t>
            </a:r>
          </a:p>
          <a:p xmlns:a="http://schemas.openxmlformats.org/drawingml/2006/main">
            <a:r>
              <a:t>        "url": "https://github.com/Uniswap/v4-hooks-public"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"DefiLlama v4 适配器源码",</a:t>
            </a:r>
          </a:p>
          <a:p xmlns:a="http://schemas.openxmlformats.org/drawingml/2006/main">
            <a:r>
              <a:t>        "url": "https://github.com/DefiLlama/yield-server/blob/master/src/adaptors/uniswap-v4/index.js"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"StablePair · Uniswap v4",</a:t>
            </a:r>
          </a:p>
          <a:p xmlns:a="http://schemas.openxmlformats.org/drawingml/2006/main">
            <a:r>
              <a:t>        "detail": "https://yields.llama.fi/chart/fcf0e09f-7157-5ace-856b-25c7f6376eab；读取时间 2026-09-14T15:05:00.034181+00:00；保留原响应于 sources/history-fcf0e09f-7157-5ace-856b-25c7f6376eab.json。"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"Uniswap v3 · 0.01%",</a:t>
            </a:r>
          </a:p>
          <a:p xmlns:a="http://schemas.openxmlformats.org/drawingml/2006/main">
            <a:r>
              <a:t>        "detail": "https://yields.llama.fi/chart/e737d721-f45c-40f0-9793-9f56261862b9；读取时间 2026-09-14T15:04:59.711831+00:00；保留原响应于 sources/history-e737d721-f45c-40f0-9793-9f56261862b9.json。"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"Curve · USDC/USDT",</a:t>
            </a:r>
          </a:p>
          <a:p xmlns:a="http://schemas.openxmlformats.org/drawingml/2006/main">
            <a:r>
              <a:t>        "detail": "https://yields.llama.fi/chart/e8dda16a-ad63-4925-b234-06861cff79c7；读取时间 2026-09-14T15:05:00.829099+00:00；保留原响应于 sources/history-e8dda16a-ad63-4925-b234-06861cff79c7.json。"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"普通 Uniswap v4",</a:t>
            </a:r>
          </a:p>
          <a:p xmlns:a="http://schemas.openxmlformats.org/drawingml/2006/main">
            <a:r>
              <a:t>        "detail": "https://yields.llama.fi/chart/396690fe-b21f-43d6-a189-1e8157069671；读取时间 2026-09-14T15:05:00.061131+00:00；保留原响应于 sources/history-396690fe-b21f-43d6-a189-1e8157069671.json。"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"日度去重与均值",</a:t>
            </a:r>
          </a:p>
          <a:p xmlns:a="http://schemas.openxmlformats.org/drawingml/2006/main">
            <a:r>
              <a:t>        "detail": "选取 [2026-08-15T00:00:00Z, 2026-09-14T00:00:00Z)，每个 UTC 日保留时间最晚的记录，仅取 apyBase。原字段以百分数表示，除以 100 转成报告数值。30 天均有效才填 meanBase30d；缺失不补零、不前向填充。重算脚本：calculate_base_history.py。"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"目标池身份与可用性",</a:t>
            </a:r>
          </a:p>
          <a:p xmlns:a="http://schemas.openxmlformats.org/drawingml/2006/main">
            <a:r>
              <a:t>        "detail": "DefiLlama fcf0e09f-7157-5ace-856b-25c7f6376eab 页面 Website 链接指向本报告 StablePair 池 0x2b21c65d9a7dc6926ee330a1c6e5a8037fd81774f3dc066536f800128e39f634；官方仓库标注该池 2026-09-10 上线。窗口内仅 4 天记录，apyBase 均为 0，未能独立核实这些零值代表实际收费，因此不用于均值。"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"动态费率字段的限制",</a:t>
            </a:r>
          </a:p>
          <a:p xmlns:a="http://schemas.openxmlformats.org/drawingml/2006/main">
            <a:r>
              <a:t>        "detail": "读取并保存 v4 适配器源码：topLvl 与部分日度数据路径将动态费率池的手续费置零；另有读取实际 swap fee 的 fallback 分支。本次历史响应未标注具体分支，不能确认全零的具体生成路径，也不能据此推断实际手续费为零。"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"均值是日度基础年化指标的算术平均，不是这 30 天的持有期收益；来源字段名为 apyBase，未假设复投。",</a:t>
            </a:r>
          </a:p>
          <a:p xmlns:a="http://schemas.openxmlformats.org/drawingml/2006/main">
            <a:r>
              <a:t>      "StablePair 历史字段不可用；其 6.44% 官方快照保留原口径，不能用它减普通池月均推导收益增强。",</a:t>
            </a:r>
          </a:p>
          <a:p xmlns:a="http://schemas.openxmlformats.org/drawingml/2006/main">
            <a:r>
              <a:t>      "普通 v4 只有 12 天记录，3.03% 仅为有记录日均值，不能作为完整近 30 天平均。",</a:t>
            </a:r>
          </a:p>
          <a:p xmlns:a="http://schemas.openxmlformats.org/drawingml/2006/main">
            <a:r>
              <a:t>      "不同池的区间、有效流动性、TVL、成交量与费用机制不同，本表是收益背景参考，不构成同条件业绩比较。"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"metricDefinitions":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"近 30 天基础年化均值",</a:t>
            </a:r>
          </a:p>
          <a:p xmlns:a="http://schemas.openxmlformats.org/drawingml/2006/main">
            <a:r>
              <a:t>        "definition": "完整 30 个 UTC 日的有效 apyBase / 100 算术平均；任一天缺失或目标字段不可验证时为 null。",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"summary",</a:t>
            </a:r>
          </a:p>
          <a:p xmlns:a="http://schemas.openxmlformats.org/drawingml/2006/main">
            <a:r>
              <a:t>          "recent-month",</a:t>
            </a:r>
          </a:p>
          <a:p xmlns:a="http://schemas.openxmlformats.org/drawingml/2006/main">
            <a:r>
              <a:t>          "monthly-table",</a:t>
            </a:r>
          </a:p>
          <a:p xmlns:a="http://schemas.openxmlformats.org/drawingml/2006/main">
            <a:r>
              <a:t>          "methods"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"记录覆盖",</a:t>
            </a:r>
          </a:p>
          <a:p xmlns:a="http://schemas.openxmlformats.org/drawingml/2006/main">
            <a:r>
              <a:t>        "definition": "窗口内至少有一条历史记录的 UTC 日数 / 30；有记录不等于基础收益数值有效。",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"recent-month",</a:t>
            </a:r>
          </a:p>
          <a:p xmlns:a="http://schemas.openxmlformats.org/drawingml/2006/main">
            <a:r>
              <a:t>          "monthly-table",</a:t>
            </a:r>
          </a:p>
          <a:p xmlns:a="http://schemas.openxmlformats.org/drawingml/2006/main">
            <a:r>
              <a:t>          "methods"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"有记录日基础年化均值",</a:t>
            </a:r>
          </a:p>
          <a:p xmlns:a="http://schemas.openxmlformats.org/drawingml/2006/main">
            <a:r>
              <a:t>        "definition": "仅对可用的日度基础年化记录求算术平均。普通 v4 为 12 天样本均值，与完整月均分开。",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"recent-month",</a:t>
            </a:r>
          </a:p>
          <a:p xmlns:a="http://schemas.openxmlformats.org/drawingml/2006/main">
            <a:r>
              <a:t>          "methods"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全沿用原分享测算输入，非第4页实测快照：TVL=5,670,000，日成交量=71,900,000。平均LP费率包含零费交易，按成交额加权。1bps=0.01%，0.10bps=0.001%=0.00001。模型grossAPR=volume/tvl*feeBps/10000*365。五场景为0.05/0.07/0.10/0.15/0.25bps，APR2.3142416%/3.2399383%/4.6284832%/6.9427249%/11.5712081%。费率每增0.01bps，毛APR约增0.463个百分点；0.07至0.10差1.38854497个百分点。此处为敏感性，不是概率加权预期收益，也不代表跑赢普通LP的固定幅度。实际净回报需扣实际Gas、换币手续费与滑点，并计持仓损益；各成本只计一次。标准v4手续费不自动加入流动性。真实增益应以同时间窗口、同链同币对、可比区间和管理动作的单位资本净回报对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"yield_scenarios",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"基于用户分享的条件测算；非当前实测业绩",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"分享原文",</a:t>
            </a:r>
          </a:p>
          <a:p xmlns:a="http://schemas.openxmlformats.org/drawingml/2006/main">
            <a:r>
              <a:t>        "url": "https://chatgpt.com/share/6aa803cb-4020-83ec-85d4-0b93f163b076"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"原分享报告 TVL 567 万美元、24h 成交量 7190 万美元；本报告未独立确认该快照。",</a:t>
            </a:r>
          </a:p>
          <a:p xmlns:a="http://schemas.openxmlformats.org/drawingml/2006/main">
            <a:r>
              <a:t>      "平均 LP 费率和持续成交量为情景假设；仅测算毛手续费 APR，未计持仓损益、Gas 与换币成本；不假设复投。"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"输入",</a:t>
            </a:r>
          </a:p>
          <a:p xmlns:a="http://schemas.openxmlformats.org/drawingml/2006/main">
            <a:r>
              <a:t>        "detail": "用户提供的 ChatGPT 分享；通过浏览器读取收益测算回复。TVL=5670000 USD，24h volume=71900000 USD；来源标注日期 2026-09-14。"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"假设",</a:t>
            </a:r>
          </a:p>
          <a:p xmlns:a="http://schemas.openxmlformats.org/drawingml/2006/main">
            <a:r>
              <a:t>        "detail": "日成交量与TVL按情景固定；平均LP实收费率0.05/0.07/0.10/0.15/0.25 bps（扩容表固定0.10 bps）。采用用户直接持有 LP、助手辅助操作的方案；不假设复投。"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"metricDefinitions":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"毛手续费 APR",</a:t>
            </a:r>
          </a:p>
          <a:p xmlns:a="http://schemas.openxmlformats.org/drawingml/2006/main">
            <a:r>
              <a:t>        "definition": "日成交量 / TVL × 平均 LP 实收费率(bps) / 10000 × 365；未计个人区间差异、持仓损益及执行成本。",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"summary",</a:t>
            </a:r>
          </a:p>
          <a:p xmlns:a="http://schemas.openxmlformats.org/drawingml/2006/main">
            <a:r>
              <a:t>          "yield-table",</a:t>
            </a:r>
          </a:p>
          <a:p xmlns:a="http://schemas.openxmlformats.org/drawingml/2006/main">
            <a:r>
              <a:t>          "yield-explanation",</a:t>
            </a:r>
          </a:p>
          <a:p xmlns:a="http://schemas.openxmlformats.org/drawingml/2006/main">
            <a:r>
              <a:t>          "increment",</a:t>
            </a:r>
          </a:p>
          <a:p xmlns:a="http://schemas.openxmlformats.org/drawingml/2006/main">
            <a:r>
              <a:t>          "capacity",</a:t>
            </a:r>
          </a:p>
          <a:p xmlns:a="http://schemas.openxmlformats.org/drawingml/2006/main">
            <a:r>
              <a:t>          "capacity-table"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原分享固定TVL567万美元作为起点，在新增0/100/500/1000万美元时，总TVL为567/667/1067/1567万美元，毛手续费APR为4.6284832%/3.9345577%/2.4595595%/1.6747607%。固定成交量和实际平均费率，并假设资本效率相同。此模型仅显示容量敏感性，不预测TVL扩张后的实际成交行为。集中流动性下TVL为粗略分母，个人仓位要看交易所在区间的有效流动性和在区间时长。大额投入界面需显示相对池子规模、价格冲击和执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"capacity_scenarios",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"基于用户分享的条件测算；非当前实测业绩",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"分享原文",</a:t>
            </a:r>
          </a:p>
          <a:p xmlns:a="http://schemas.openxmlformats.org/drawingml/2006/main">
            <a:r>
              <a:t>        "url": "https://chatgpt.com/share/6aa803cb-4020-83ec-85d4-0b93f163b076"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"原分享报告 TVL 567 万美元、24h 成交量 7190 万美元；本报告未独立确认该快照。",</a:t>
            </a:r>
          </a:p>
          <a:p xmlns:a="http://schemas.openxmlformats.org/drawingml/2006/main">
            <a:r>
              <a:t>      "平均 LP 费率和持续成交量为情景假设；仅测算毛手续费 APR，未计持仓损益、Gas 与换币成本；不假设复投。"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"输入",</a:t>
            </a:r>
          </a:p>
          <a:p xmlns:a="http://schemas.openxmlformats.org/drawingml/2006/main">
            <a:r>
              <a:t>        "detail": "用户提供的 ChatGPT 分享；通过浏览器读取收益测算回复。TVL=5670000 USD，24h volume=71900000 USD；来源标注日期 2026-09-14。"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"假设",</a:t>
            </a:r>
          </a:p>
          <a:p xmlns:a="http://schemas.openxmlformats.org/drawingml/2006/main">
            <a:r>
              <a:t>        "detail": "日成交量与TVL按情景固定；平均LP实收费率0.05/0.07/0.10/0.15/0.25 bps（扩容表固定0.10 bps）。采用用户直接持有 LP、助手辅助操作的方案；不假设复投。"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"metricDefinitions":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"毛手续费 APR",</a:t>
            </a:r>
          </a:p>
          <a:p xmlns:a="http://schemas.openxmlformats.org/drawingml/2006/main">
            <a:r>
              <a:t>        "definition": "日成交量 / TVL × 平均 LP 实收费率(bps) / 10000 × 365；未计个人区间差异、持仓损益及执行成本。",</a:t>
            </a:r>
          </a:p>
          <a:p xmlns:a="http://schemas.openxmlformats.org/drawingml/2006/main">
            <a:r>
              <a:t>        "componentIds": [</a:t>
            </a:r>
          </a:p>
          <a:p xmlns:a="http://schemas.openxmlformats.org/drawingml/2006/main">
            <a:r>
              <a:t>          "summary",</a:t>
            </a:r>
          </a:p>
          <a:p xmlns:a="http://schemas.openxmlformats.org/drawingml/2006/main">
            <a:r>
              <a:t>          "yield-table",</a:t>
            </a:r>
          </a:p>
          <a:p xmlns:a="http://schemas.openxmlformats.org/drawingml/2006/main">
            <a:r>
              <a:t>          "yield-explanation",</a:t>
            </a:r>
          </a:p>
          <a:p xmlns:a="http://schemas.openxmlformats.org/drawingml/2006/main">
            <a:r>
              <a:t>          "increment",</a:t>
            </a:r>
          </a:p>
          <a:p xmlns:a="http://schemas.openxmlformats.org/drawingml/2006/main">
            <a:r>
              <a:t>          "capacity",</a:t>
            </a:r>
          </a:p>
          <a:p xmlns:a="http://schemas.openxmlformats.org/drawingml/2006/main">
            <a:r>
              <a:t>          "capacity-table"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产品为用户助手，首版聚焦Ethereum USDC/USDT StablePair池。流程：连接钱包，选择币种金额和价格区间，确认报价并签名，通过v4 PositionManager添加流动性，recipient设用户钱包。双币直接投入；单币通过适配目标池的Zap完成兑换和添加流动性，交易结束后余款返回用户。示意箭头表示操作流程而非资金托管。资金在Uniswap池内做市，用户拥有标准ERC-721仓位NFT。NFT记录仓位控制权，不是把做市资金保留在钱包。无Vault、归集资金、平台份额、后台代管或自动交易权限。用户可通过兼容Uniswap界面管理同一仓位。界面本身不增加底层收益；改善来自理解和操作便利、可能的执行成本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视觉素材：flow.png；使用 image_gen 生成的概念示意，非实测图或已上线产品截图。完整提示词及生成路径保存在同目录 .build/image-provenance.json。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入页：池、币对、网络、Hook、参考APR及观测日期；单币或双币、投入金额、预设区间及高级自定义。展示上下界、所需币种比例、兑换报价、预估流动性、价格冲击、Gas、换币手续费及最小可接受结果。集中流动性不一定50/50；首次授权和交易可能多次签名。持仓页：用户NFT、区间状态、两币数量、估值、未领取手续费、进出记录、链上与Uniswap链接；提供追加、领取、移除入口。将手续费与持仓损益区分，无法追溯完整成本时不虚构净收益。退出：移除比例与两币预估，用户签名后资产回钱包，可选再换为单币；即使兑换不利也保留原币退出。无赎回队列。手续费待领取，若快捷追加仍要主动签名。异常提醒提供可选操作，不自动卖币退出。示意中的横线为未连接钱包/未加载数值，不是零余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视觉素材：product.png；使用 image_gen 生成的概念示意，非实测图或已上线产品截图。完整提示词及生成路径保存在同目录 .build/image-provenance.json。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例以跌价前两币均1美元为起点，若80%的资产在某币上而后价格下跌20%，静态组合损失=0.8*0.2=0.16，即16%。另20%资产价值不变。真实脱锚下参考价可能仍为1，交易者将贬值币卖入池并换走另一币，库存单边化；最终损失还取决于交易路径和退出价。增加若干个百分点的年化手续费不能消除尾部风险。该图为假设暴露占比，不是现有池的实测资产配置，不是损失概率。监测外部价格、仓位集中和退出深度，用户自主决定。其他风险包括Hook升级、配置和审计范围，目标池及授权对象校验，以及Zap滑点、回滚、余款和仓位接收人。Hook不能阻止LP撤出不等于能无损换回单一稳定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本报告的产品建议与实施顺序，不是已交付的功能。第一步核对目标池、Hook与PositionManager，连接钱包，双币添加、查询自有仓位、领取、原币退出；以NFT和资产正确到达用户钱包验收。第二步适配目标池的单币Zap，验证余款、授权范围、报价过期、滑点保护和失败回滚。第三步池级参考APR与个人手续费/持仓损益分开、异常提醒，历史不足或字段不可验证不填0，满30天有效记录后再显示月均。所有资产操作由用户签名。产品只做用户助手，不含商业模式、平台收费或补贴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原报告：StablePair-Hook-研究报告.md</a:t>
            </a:r>
          </a:p>
          <a:p xmlns:a="http://schemas.openxmlformats.org/drawingml/2006/main">
            <a:r>
              <a:t>报告快照：2026-09-14。转换为演示文稿时未更新数据。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"query": "mechanism_evidence",</a:t>
            </a:r>
          </a:p>
          <a:p xmlns:a="http://schemas.openxmlformats.org/drawingml/2006/main">
            <a:r>
              <a:t>  "source": {</a:t>
            </a:r>
          </a:p>
          <a:p xmlns:a="http://schemas.openxmlformats.org/drawingml/2006/main">
            <a:r>
              <a:t>    "label": "Uniswap 官方机制及接入文档",</a:t>
            </a:r>
          </a:p>
          <a:p xmlns:a="http://schemas.openxmlformats.org/drawingml/2006/main">
            <a:r>
              <a:t>    "links":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"overview",</a:t>
            </a:r>
          </a:p>
          <a:p xmlns:a="http://schemas.openxmlformats.org/drawingml/2006/main">
            <a:r>
              <a:t>        "url": "https://developers.uniswap.org/docs/protocols/uniswap-labs-hooks/stable-pair/overview"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"fees",</a:t>
            </a:r>
          </a:p>
          <a:p xmlns:a="http://schemas.openxmlformats.org/drawingml/2006/main">
            <a:r>
              <a:t>        "url": "https://developers.uniswap.org/docs/protocols/uniswap-labs-hooks/stable-pair/concepts/dynamic-fees"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"decay",</a:t>
            </a:r>
          </a:p>
          <a:p xmlns:a="http://schemas.openxmlformats.org/drawingml/2006/main">
            <a:r>
              <a:t>        "url": "https://developers.uniswap.org/docs/protocols/uniswap-labs-hooks/stable-pair/concepts/fee-decay"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"cache",</a:t>
            </a:r>
          </a:p>
          <a:p xmlns:a="http://schemas.openxmlformats.org/drawingml/2006/main">
            <a:r>
              <a:t>        "url": "https://developers.uniswap.org/docs/protocols/uniswap-labs-hooks/stable-pair/concepts/block-price-caching"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"liquidity",</a:t>
            </a:r>
          </a:p>
          <a:p xmlns:a="http://schemas.openxmlformats.org/drawingml/2006/main">
            <a:r>
              <a:t>        "url": "https://developers.uniswap.org/docs/protocols/uniswap-labs-hooks/stable-pair/guides/provide-liquidity"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"security",</a:t>
            </a:r>
          </a:p>
          <a:p xmlns:a="http://schemas.openxmlformats.org/drawingml/2006/main">
            <a:r>
              <a:t>        "url": "https://developers.uniswap.org/docs/protocols/uniswap-labs-hooks/stable-pair/security"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"deployments",</a:t>
            </a:r>
          </a:p>
          <a:p xmlns:a="http://schemas.openxmlformats.org/drawingml/2006/main">
            <a:r>
              <a:t>        "url": "https://developers.uniswap.org/docs/protocols/uniswap-labs-hooks/stable-pair/deployments"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"launch",</a:t>
            </a:r>
          </a:p>
          <a:p xmlns:a="http://schemas.openxmlformats.org/drawingml/2006/main">
            <a:r>
              <a:t>        "url": "https://blog.uniswap.org/stablepair-hook-a-fee-that-moves-with-the-market"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"direct_position",</a:t>
            </a:r>
          </a:p>
          <a:p xmlns:a="http://schemas.openxmlformats.org/drawingml/2006/main">
            <a:r>
              <a:t>        "url": "https://developers.uniswap.org/docs/protocols/v4/guides/managing-liquidity/mint-position"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"label": "fee_collection",</a:t>
            </a:r>
          </a:p>
          <a:p xmlns:a="http://schemas.openxmlformats.org/drawingml/2006/main">
            <a:r>
              <a:t>        "url": "https://support.uniswap.org/hc/en-us/articles/20904283758349-What-are-fee-tiers"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"evidenceFlow":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"官方文档核实",</a:t>
            </a:r>
          </a:p>
          <a:p xmlns:a="http://schemas.openxmlformats.org/drawingml/2006/main">
            <a:r>
              <a:t>        "detail": "通过 web.open / web.click 读取各链接全文相关段落，2026-09-14；部署文档仍标 planned，以上线公告及池子 UI 作为可用性证据。"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"title": "直接 LP 接入补充核实",</a:t>
            </a:r>
          </a:p>
          <a:p xmlns:a="http://schemas.openxmlformats.org/drawingml/2006/main">
            <a:r>
              <a:t>        "detail": "2026-09-14，通过 web.search_query 读取官方 Mint Position 与 What are fee tiers 的对应说明；仅用于核实仓位接收人与手续费领取机制，未刷新池子快照。"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"caveats": [</a:t>
            </a:r>
          </a:p>
          <a:p xmlns:a="http://schemas.openxmlformats.org/drawingml/2006/main">
            <a:r>
              <a:t>      "本报告解释机制，不是对已部署合约的安全审计。"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b8fa4fc5d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98ea707d5438b" /><Relationship Type="http://schemas.openxmlformats.org/officeDocument/2006/relationships/slideLayout" Target="/ppt/slideLayouts/slideLayout1.xml" Id="R56de81702030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e81702030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87b3e74fa41fa" /><Relationship Type="http://schemas.openxmlformats.org/officeDocument/2006/relationships/image" Target="/ppt/media/image.png" Id="R14c7a1a7d599453d" /><Relationship Type="http://schemas.openxmlformats.org/officeDocument/2006/relationships/notesSlide" Target="/ppt/notesSlides/notesSlide1.xml" Id="Re02ebaf1b337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42313764b4558" /><Relationship Type="http://schemas.openxmlformats.org/officeDocument/2006/relationships/chart" Target="/ppt/slides/charts/chart1.xml" Id="Rc2ef77bccedd4aa6" /><Relationship Type="http://schemas.openxmlformats.org/officeDocument/2006/relationships/notesSlide" Target="/ppt/notesSlides/notesSlide2.xml" Id="Rf7edb4fadbfc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17c1aae6f49ef" /><Relationship Type="http://schemas.openxmlformats.org/officeDocument/2006/relationships/image" Target="/ppt/media/image2.png" Id="R805093d40ec84ae9" /><Relationship Type="http://schemas.openxmlformats.org/officeDocument/2006/relationships/notesSlide" Target="/ppt/notesSlides/notesSlide3.xml" Id="R46c5e54604e64c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494c7d07a4b2d" /><Relationship Type="http://schemas.openxmlformats.org/officeDocument/2006/relationships/notesSlide" Target="/ppt/notesSlides/notesSlide4.xml" Id="R16acf2e3f3f0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09123dce84483" /><Relationship Type="http://schemas.openxmlformats.org/officeDocument/2006/relationships/chart" Target="/ppt/slides/charts/chart2.xml" Id="R54cfad3c96ac4655" /><Relationship Type="http://schemas.openxmlformats.org/officeDocument/2006/relationships/notesSlide" Target="/ppt/notesSlides/notesSlide5.xml" Id="R5f768c240cc547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61a5a27d346c0" /><Relationship Type="http://schemas.openxmlformats.org/officeDocument/2006/relationships/chart" Target="/ppt/slides/charts/chart3.xml" Id="R8b799cabae6b4de2" /><Relationship Type="http://schemas.openxmlformats.org/officeDocument/2006/relationships/notesSlide" Target="/ppt/notesSlides/notesSlide6.xml" Id="R34eb96ebdd5f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dcab147814cfe" /><Relationship Type="http://schemas.openxmlformats.org/officeDocument/2006/relationships/chart" Target="/ppt/slides/charts/chart4.xml" Id="R5dd611d2f5f942a8" /><Relationship Type="http://schemas.openxmlformats.org/officeDocument/2006/relationships/notesSlide" Target="/ppt/notesSlides/notesSlide7.xml" Id="Rf00ce70a9cb6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e107d7b674372" /><Relationship Type="http://schemas.openxmlformats.org/officeDocument/2006/relationships/image" Target="/ppt/media/image3.png" Id="Rf3084e4697854525" /><Relationship Type="http://schemas.openxmlformats.org/officeDocument/2006/relationships/notesSlide" Target="/ppt/notesSlides/notesSlide8.xml" Id="R917468be73d04f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7ee5d6d2c45fe" /><Relationship Type="http://schemas.openxmlformats.org/officeDocument/2006/relationships/image" Target="/ppt/media/image4.png" Id="R250fc8ac34324918" /><Relationship Type="http://schemas.openxmlformats.org/officeDocument/2006/relationships/notesSlide" Target="/ppt/notesSlides/notesSlide9.xml" Id="R55819f5dccd747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5df84ed0a4b72" /><Relationship Type="http://schemas.openxmlformats.org/officeDocument/2006/relationships/chart" Target="/ppt/slides/charts/chart5.xml" Id="Rf260255b8d514b86" /><Relationship Type="http://schemas.openxmlformats.org/officeDocument/2006/relationships/notesSlide" Target="/ppt/notesSlides/notesSlide10.xml" Id="Re176b44db45945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52e8bab1a493a" /><Relationship Type="http://schemas.openxmlformats.org/officeDocument/2006/relationships/notesSlide" Target="/ppt/notesSlides/notesSlide11.xml" Id="R1826ef4077a942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LP 手续费</c:v>
          </c:tx>
          <c:spPr>
            <a:solidFill xmlns:a="http://schemas.openxmlformats.org/drawingml/2006/main">
              <a:srgbClr val="F55398"/>
            </a:solidFill>
          </c:spPr>
          <c:cat>
            <c:strRef>
              <c:f>'Chart Data'!$A$2:$A$3</c:f>
              <c:strCache>
                <c:ptCount val="2"/>
                <c:pt idx="0">
                  <c:v>固定收费</c:v>
                </c:pt>
                <c:pt idx="1">
                  <c:v>动态收费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v>套利者剩余</c:v>
          </c:tx>
          <c:spPr>
            <a:solidFill xmlns:a="http://schemas.openxmlformats.org/drawingml/2006/main">
              <a:srgbClr val="A7EBD1"/>
            </a:solidFill>
          </c:spPr>
          <c:cat>
            <c:strRef>
              <c:f>'Chart Data'!$C$2:$C$3</c:f>
              <c:strCache>
                <c:ptCount val="2"/>
                <c:pt idx="0">
                  <c:v>固定收费</c:v>
                </c:pt>
                <c:pt idx="1">
                  <c:v>动态收费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90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1817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71817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F5F5F3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17181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近30天基础年化均值</c:v>
          </c:tx>
          <c:spPr>
            <a:solidFill xmlns:a="http://schemas.openxmlformats.org/drawingml/2006/main">
              <a:srgbClr val="F5539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EBD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5539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Uniswap v3 · 0.01%</c:v>
                </c:pt>
                <c:pt idx="1">
                  <c:v>Curve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0.0135642133333</c:v>
                </c:pt>
                <c:pt idx="1">
                  <c:v>0.00759333333333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5F5F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40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0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B403D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04"/>
      </c:valAx>
      <c:spPr>
        <a:solidFill xmlns:a="http://schemas.openxmlformats.org/drawingml/2006/main">
          <a:srgbClr val="171817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7181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毛手续费 APR</c:v>
          </c:tx>
          <c:spPr>
            <a:solidFill xmlns:a="http://schemas.openxmlformats.org/drawingml/2006/main">
              <a:srgbClr val="F55398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A7EBD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0.05 bps</c:v>
                </c:pt>
                <c:pt idx="1">
                  <c:v>0.07 bps</c:v>
                </c:pt>
                <c:pt idx="2">
                  <c:v>0.10 bps</c:v>
                </c:pt>
                <c:pt idx="3">
                  <c:v>0.15 bps</c:v>
                </c:pt>
                <c:pt idx="4">
                  <c:v>0.25 bps</c:v>
                </c:pt>
              </c:strCache>
            </c:strRef>
          </c:cat>
          <c:val>
            <c:numRef>
              <c:f>'Chart Data'!$B$2:$B$6</c:f>
              <c:numCache>
                <c:formatCode>0.00%</c:formatCode>
                <c:ptCount val="5"/>
                <c:pt idx="0">
                  <c:v>0.0231424162257</c:v>
                </c:pt>
                <c:pt idx="1">
                  <c:v>0.032399382716</c:v>
                </c:pt>
                <c:pt idx="2">
                  <c:v>0.0462848324515</c:v>
                </c:pt>
                <c:pt idx="3">
                  <c:v>0.0694272486772</c:v>
                </c:pt>
                <c:pt idx="4">
                  <c:v>0.115712081129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5F5F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40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B403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3"/>
      </c:valAx>
      <c:spPr>
        <a:solidFill xmlns:a="http://schemas.openxmlformats.org/drawingml/2006/main">
          <a:srgbClr val="171817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7181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毛手续费 APR</c:v>
          </c:tx>
          <c:spPr>
            <a:solidFill xmlns:a="http://schemas.openxmlformats.org/drawingml/2006/main">
              <a:srgbClr val="F5539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EBD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55398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500</c:v>
                </c:pt>
                <c:pt idx="3">
                  <c:v>1,000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0.0462848324515</c:v>
                </c:pt>
                <c:pt idx="1">
                  <c:v>0.0393455772114</c:v>
                </c:pt>
                <c:pt idx="2">
                  <c:v>0.0245955951265</c:v>
                </c:pt>
                <c:pt idx="3">
                  <c:v>0.0167476068922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5F5F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B403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B403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171817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7181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跌价前仓位占比</c:v>
          </c:tx>
          <c:spPr>
            <a:solidFill xmlns:a="http://schemas.openxmlformats.org/drawingml/2006/main">
              <a:srgbClr val="F55398"/>
            </a:solidFill>
          </c:spPr>
          <c:dPt>
            <c:idx val="0"/>
            <c:spPr>
              <a:solidFill xmlns:a="http://schemas.openxmlformats.org/drawingml/2006/main">
                <a:srgbClr val="F55398"/>
              </a:solidFill>
            </c:spPr>
          </c:dPt>
          <c:dPt>
            <c:idx val="1"/>
            <c:spPr>
              <a:solidFill xmlns:a="http://schemas.openxmlformats.org/drawingml/2006/main">
                <a:srgbClr val="A7EBD1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贬值币</c:v>
                </c:pt>
                <c:pt idx="1">
                  <c:v>另一币种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1817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171817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F5F5F3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17181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7a1a7d59945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D3EB0-A504-429F-B78A-4FACB536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产品研究 · 图解版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D836A-9F0F-49E9-AC99-FFF50FDC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StablePair Hook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98879-4BDF-4344-A2F7-9CB8532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与 LP 用户助手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861C-10C1-4F63-83F3-FD1598F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理解动态费率，看清收益，直接持有 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4F4F2-EE25-405A-BFC3-73D43ED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沿用 2026 年 9 月 14 日报告与池子快照</a:t>
            </a:r>
          </a:p>
        </p:txBody>
      </p:sp>
    </p:spTree>
    <p:extLst>
      <p:ext uri="{BB962C8B-B14F-4D97-AF65-F5344CB8AC3E}">
        <p14:creationId xmlns:p14="http://schemas.microsoft.com/office/powerpoint/2010/main" val="957757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48CD5-A51D-4EAF-9CB3-BC63C091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01 / 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FA04-F6E1-457E-8F3B-364965DB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Hook 把部分套利价差留给 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A51C0-5FBB-420D-B522-AE6FD048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DBD1-1BE1-4925-9FA7-6FCBC9C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同一笔 100 USDT 毛价差的分配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2450" y="2352675"/>
          <a:ext xmlns:a="http://schemas.openxmlformats.org/drawingml/2006/main" cx="7496175" cy="288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ef77bccedd4a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DEADE-7A1F-41D7-A275-F148A8C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71725"/>
            <a:ext cx="3076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7050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+70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70E13-ABB9-4671-9402-C917C4B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861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USDT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5119-7B70-48FF-B6F3-63E81C8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338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LP 多留住的价差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433F1-69F1-44FA-AC5C-9320047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演示假设，非实测收费。暂忽略价格冲击、Gas 与外部交易费。金额单位：USDT。</a:t>
            </a:r>
          </a:p>
        </p:txBody>
      </p:sp>
    </p:spTree>
    <p:extLst>
      <p:ext uri="{BB962C8B-B14F-4D97-AF65-F5344CB8AC3E}">
        <p14:creationId xmlns:p14="http://schemas.microsoft.com/office/powerpoint/2010/main" val="1130602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3969B-9D64-49CC-ABAD-9F7D6713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01 / 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3C7AB-18E9-4659-8395-2BEF0896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每笔交易按价格位置与方向定费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BD37-D0D7-4EB2-8877-44E4E6E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93d40ec84ae9"/>
          <a:stretch xmlns:a="http://schemas.openxmlformats.org/drawingml/2006/main"/>
        </p:blipFill>
        <p:spPr>
          <a:xfrm xmlns:a="http://schemas.openxmlformats.org/drawingml/2006/main">
            <a:off x="1915689" y="1323975"/>
            <a:ext cx="8360622" cy="4705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FFB80-488F-4C34-ABAF-823FBC4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机制示意。参考价是配置值；成交费率取决于当时价格状态与经过的区块数。</a:t>
            </a:r>
          </a:p>
        </p:txBody>
      </p:sp>
    </p:spTree>
    <p:extLst>
      <p:ext uri="{BB962C8B-B14F-4D97-AF65-F5344CB8AC3E}">
        <p14:creationId xmlns:p14="http://schemas.microsoft.com/office/powerpoint/2010/main" val="1405384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C18CE-8A30-44C8-A362-7D393395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02 / 收益与数据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4656F-29D7-47D4-AAC8-408BE9D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9 月 14 日的基础 APR 快照为 6.44%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2A714-0924-44C8-BFD4-FC1F3DCE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99937-D1DC-4201-978B-5161D16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USDC / USDT · Ethereum · StablePair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1F09-48B8-4D89-A550-ADDA2A1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6238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75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10275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6.44%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B661F-7DF7-437B-BAD6-FDB41E9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0050"/>
            <a:ext cx="638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官方池子页面 · 基础 APR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9FF3-8180-4FD5-8469-FE77AF1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566.4 万美元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78CC1-81B1-4239-ACAA-A2ECE9E6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池内资金 TVL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90184-4C9D-4A3A-ADAF-FC9608D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194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7,140.4 万美元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136A4-55D2-4DAB-A17E-2545536B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24 小时成交量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9B619-B921-485C-B588-E01FB35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005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12.61 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C62A7-EC38-4901-ABB0-2D8B6D12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62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日成交量 / TVL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23EBF-7016-46C7-B027-7D949D12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保留 2026-09-14 约 22:30（北京时间）统计栏快照。页面 APR 是估计指标，非个人已实现回报。</a:t>
            </a:r>
          </a:p>
        </p:txBody>
      </p:sp>
    </p:spTree>
    <p:extLst>
      <p:ext uri="{BB962C8B-B14F-4D97-AF65-F5344CB8AC3E}">
        <p14:creationId xmlns:p14="http://schemas.microsoft.com/office/powerpoint/2010/main" val="1370831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BF1BC-4C73-4C57-A969-2EA5888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02 / 收益与数据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2940D-2892-47BB-A214-08D8E8D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StablePair 尚无完整近 30 天均值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81D66-2FB8-4388-80BA-731A6F3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04278-49E8-4F9D-9E5E-A48D656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参考池基础年化均值 · 各 30 / 30 天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42925" y="2257425"/>
          <a:ext xmlns:a="http://schemas.openxmlformats.org/drawingml/2006/main" cx="71247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cfad3c96ac465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6CB2-91C4-4D59-937B-049D041A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764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4 天记录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54129-9BED-4077-8343-BE73407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289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目标池 9 月 10 日上线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FB8B5-C35F-4429-A3D2-9B036783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57625"/>
            <a:ext cx="3381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基础收益字段不可验证</a:t>
            </a:r>
          </a:p>
          <a:p xmlns:a="http://schemas.openxmlformats.org/drawingml/2006/main">
            <a:pPr algn="l">
              <a:def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近 30 天均值留空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229F8-EFAA-4F7F-AEE9-1D1D235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245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不能用单日快照减参考池月均，推导 Hook 收益增幅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08050-0CE9-47C6-83EE-97177A1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窗口：2026-08-15 至 09-13 UTC。普通 v4 仅 12 天可用，3.03% 为有记录日均值。</a:t>
            </a:r>
          </a:p>
        </p:txBody>
      </p:sp>
    </p:spTree>
    <p:extLst>
      <p:ext uri="{BB962C8B-B14F-4D97-AF65-F5344CB8AC3E}">
        <p14:creationId xmlns:p14="http://schemas.microsoft.com/office/powerpoint/2010/main" val="1007922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7BE6-219E-4D50-801D-411BD4F7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02 / 收益与数据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143F2-9296-4B24-BD51-7E8AAA7D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收益取决于成交周转和平均费率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F2CD2-BA21-4021-BB5B-C8DD187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3CE97-C671-41C1-910B-5704815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条件测算：TVL 567 万美元，日成交量 7,190 万美元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85775" y="2219325"/>
          <a:ext xmlns:a="http://schemas.openxmlformats.org/drawingml/2006/main" cx="7591425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99cabae6b4d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57680-4F3F-4925-B6EF-119A151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91175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平均 LP 费率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B96C5-196F-4F83-ACE7-FC1B847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3028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+1.39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80D39-C47E-4485-B717-C9CD4F80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个百分点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8D5C2-9B9D-4461-93EC-4B595A7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76725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费率从 0.07 升至 0.10 bps</a:t>
            </a:r>
          </a:p>
          <a:p xmlns:a="http://schemas.openxmlformats.org/drawingml/2006/main">
            <a:pPr algn="l">
              <a:defRPr sz="1875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模型毛 APR 的增加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9A845-283B-4FE0-A6B5-E048422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毛 APR = 日成交量 ÷ TVL × 平均 LP 费率 × 365。固定输入、不复投；不是已验证的 Hook 增益。</a:t>
            </a:r>
          </a:p>
        </p:txBody>
      </p:sp>
    </p:spTree>
    <p:extLst>
      <p:ext uri="{BB962C8B-B14F-4D97-AF65-F5344CB8AC3E}">
        <p14:creationId xmlns:p14="http://schemas.microsoft.com/office/powerpoint/2010/main" val="1971779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2AD1F-9A20-40DF-B5B6-36E152A4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02 / 收益与数据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5B1F-6F50-476C-800B-649344BB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成交量不变时，新增资金稀释单位收益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47B8A-39D7-4DF9-A5B0-E23811B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ABC6E-6F9B-47FF-ACEB-523B7E8E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固定日成交量 7,190 万美元、平均 LP 费率 0.10 bps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2228850"/>
          <a:ext xmlns:a="http://schemas.openxmlformats.org/drawingml/2006/main" cx="76581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d611d2f5f942a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78C4C-276C-4033-A453-DF25166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新增资金（万美元）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BBF46-2C02-4878-A00E-2472A1E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95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5625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+500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BB600-4AA2-4068-AE19-8AA84EF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194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万美元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1AAC2-7415-4255-8CB8-60B1DFF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171950"/>
            <a:ext cx="29813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毛 APR</a:t>
            </a:r>
          </a:p>
          <a:p xmlns:a="http://schemas.openxmlformats.org/drawingml/2006/main">
            <a:pPr algn="l">
              <a:def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4.63% 降至 2.46%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2FAE3-6151-4615-AF86-582D9D0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条件测算，假设新增资金资本效率相同。个人收益仍取决于有效流动性份额与出区间时长。</a:t>
            </a:r>
          </a:p>
        </p:txBody>
      </p:sp>
    </p:spTree>
    <p:extLst>
      <p:ext uri="{BB962C8B-B14F-4D97-AF65-F5344CB8AC3E}">
        <p14:creationId xmlns:p14="http://schemas.microsoft.com/office/powerpoint/2010/main" val="895557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075BD-3335-40F5-BB5D-8B86C53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03 / 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E4ED4-5EFA-411A-BC1A-0F6ABAAC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用户通过助手直接持有 Uniswap 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DDE44-9905-4471-9D09-15F4B17A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84e4697854525"/>
          <a:srcRect xmlns:a="http://schemas.openxmlformats.org/drawingml/2006/main" l="0" t="14038" r="0" b="1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85900"/>
            <a:ext cx="11353800" cy="459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AD05-BA4E-4BC6-9E64-DD299C22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操作由用户签名；仓位 NFT 归用户钱包。助手提供信息、报价与操作入口。</a:t>
            </a:r>
          </a:p>
        </p:txBody>
      </p:sp>
    </p:spTree>
    <p:extLst>
      <p:ext uri="{BB962C8B-B14F-4D97-AF65-F5344CB8AC3E}">
        <p14:creationId xmlns:p14="http://schemas.microsoft.com/office/powerpoint/2010/main" val="78322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fc8ac343249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2AD35-4F26-4B36-93B5-B8E2966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用户助手围绕投入、持仓和退出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A6E3-8DE6-4BC8-90FC-4B3E77DA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界面概念示意，非已上线产品。报价、Gas、滑点与授权对象在签名前展示。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329D-3DC4-40D9-8F51-13F88C8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15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5201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DDB94-FD4D-4679-A374-23E7C4C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04 / 风险与落地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E7D6A-C275-40F2-A850-B4846BC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真实脱锚可能超过手续费收益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6C439-AD87-4BAE-9B24-80437EC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8B02A-96F7-492E-A1C5-B7594416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压力情景：某币占仓位 80%，随后跌价 20%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46863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60255b8d514b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3C1B6-4E52-4AC5-A2A2-81DE553B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71725"/>
            <a:ext cx="525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80% × 20% 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B8DCA-517A-4173-BBE8-0F3A713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81350"/>
            <a:ext cx="52863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5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9075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16%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6AA7E-A766-4C14-B028-3A3235A5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06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静态估值损失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C8EEA-6CCC-45DD-B222-26B8239D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助手提示偏离与退出选项，用户决定并签名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7E121-E6D9-4080-B3DF-415C6A8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压力演示，非损失概率预测。实际损失取决于交易路径、仓位变化与退出价格。</a:t>
            </a:r>
          </a:p>
        </p:txBody>
      </p:sp>
    </p:spTree>
    <p:extLst>
      <p:ext uri="{BB962C8B-B14F-4D97-AF65-F5344CB8AC3E}">
        <p14:creationId xmlns:p14="http://schemas.microsoft.com/office/powerpoint/2010/main" val="1976878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B12B0-82AE-49FA-B75C-D82B220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04 / 风险与落地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A2150-5427-4BDA-993E-D6F37A98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首版先打通用户自己的 LP 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41B3B-6FD7-4141-A315-7214A3D6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E31E8-3C5A-4D97-85C2-5172CFC9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FA532-1C90-4542-9B38-C33B56D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938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双币投入与退出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85832-AE47-4481-9369-E7D8FD8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336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连接钱包、创建自有仓位、领取手续费、原币退出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541A8-E930-49C0-AA23-6F19906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BDE9C-0285-4E3D-B9D0-B18AA495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71825"/>
            <a:ext cx="938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单币 Zap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C49AD-E39D-4B58-BF15-4E5F915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67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确认区间与兑换报价，余款与仓位直接回到用户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F6868-7FD5-44E4-A68B-7FAE660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7EBD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C64EA-29C7-4C28-98B1-E62C553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05300"/>
            <a:ext cx="938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F5F3"/>
                </a:solidFill>
                <a:latin typeface="PingFang SC"/>
                <a:ea typeface="PingFang SC"/>
                <a:cs typeface="PingFang SC"/>
              </a:rPr>
              <a:t>仓位与收益提醒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54698-A0D2-4D45-97A5-A657321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分开显示手续费和持仓损益，提示出区间与价格偏离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38C20-CB5D-4108-955C-3A2240F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7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539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55398"/>
                </a:solidFill>
                <a:latin typeface="PingFang SC"/>
                <a:ea typeface="PingFang SC"/>
                <a:cs typeface="PingFang SC"/>
              </a:rPr>
              <a:t>用户自己签名，仓位自己持有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F778D-3F73-42E6-9B26-0153DB25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1B5B3"/>
                </a:solidFill>
                <a:latin typeface="PingFang SC"/>
                <a:ea typeface="PingFang SC"/>
                <a:cs typeface="PingFang SC"/>
              </a:rPr>
              <a:t>验收：用户看懂投入对象、区间、成本、仓位归属，并能自主取回资产。</a:t>
            </a:r>
          </a:p>
        </p:txBody>
      </p:sp>
    </p:spTree>
    <p:extLst>
      <p:ext uri="{BB962C8B-B14F-4D97-AF65-F5344CB8AC3E}">
        <p14:creationId xmlns:p14="http://schemas.microsoft.com/office/powerpoint/2010/main" val="1436807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2026-09-15T09:05:25.6320000Z</dcterms:created>
  <dcterms:modified xsi:type="dcterms:W3CDTF">2026-09-15T09:05:25.6330000Z</dcterms:modified>
</coreProperties>
</file>